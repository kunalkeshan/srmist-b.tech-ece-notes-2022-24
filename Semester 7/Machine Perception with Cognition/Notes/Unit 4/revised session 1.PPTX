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3" r:id="rId2"/>
    <p:sldId id="257" r:id="rId3"/>
    <p:sldId id="258" r:id="rId4"/>
    <p:sldId id="259" r:id="rId5"/>
    <p:sldId id="260" r:id="rId6"/>
    <p:sldId id="261" r:id="rId7"/>
    <p:sldId id="266" r:id="rId8"/>
    <p:sldId id="267" r:id="rId9"/>
    <p:sldId id="268" r:id="rId10"/>
    <p:sldId id="269" r:id="rId11"/>
    <p:sldId id="270" r:id="rId12"/>
    <p:sldId id="271" r:id="rId13"/>
    <p:sldId id="262" r:id="rId14"/>
    <p:sldId id="265" r:id="rId15"/>
    <p:sldId id="27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56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43E54E-C6D0-4B5D-8B1E-7D8EA019EB46}" type="datetimeFigureOut">
              <a:rPr lang="en-US" smtClean="0"/>
              <a:t>11/13/2022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3B3A37-1C90-411F-8002-873CF32056B0}" type="slidenum">
              <a:rPr lang="en-US" smtClean="0"/>
              <a:t>‹#›</a:t>
            </a:fld>
            <a:endParaRPr lang="en-US"/>
          </a:p>
        </p:txBody>
      </p:sp>
    </p:spTree>
    <p:extLst>
      <p:ext uri="{BB962C8B-B14F-4D97-AF65-F5344CB8AC3E}">
        <p14:creationId xmlns:p14="http://schemas.microsoft.com/office/powerpoint/2010/main" val="3134492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1"/>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3188" y="1143000"/>
            <a:ext cx="4111625" cy="30845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11/13/2022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title"/>
          </p:nvPr>
        </p:nvSpPr>
        <p:spPr>
          <a:xfrm>
            <a:off x="59894" y="1067688"/>
            <a:ext cx="8628797" cy="1004399"/>
          </a:xfrm>
          <a:prstGeom prst="rect">
            <a:avLst/>
          </a:prstGeom>
          <a:noFill/>
          <a:ln>
            <a:noFill/>
          </a:ln>
        </p:spPr>
        <p:txBody>
          <a:bodyPr spcFirstLastPara="1" wrap="square" lIns="91416" tIns="45695" rIns="91416" bIns="45695" anchor="ctr" anchorCtr="0">
            <a:normAutofit fontScale="90000"/>
          </a:bodyPr>
          <a:lstStyle/>
          <a:p>
            <a:pPr algn="just" rtl="0">
              <a:lnSpc>
                <a:spcPct val="90000"/>
              </a:lnSpc>
              <a:buClr>
                <a:srgbClr val="2F5496"/>
              </a:buClr>
              <a:buSzPct val="100000"/>
            </a:pPr>
            <a:r>
              <a:rPr lang="en-US" b="1">
                <a:solidFill>
                  <a:srgbClr val="2F5496"/>
                </a:solidFill>
                <a:latin typeface="Arial Narrow"/>
                <a:ea typeface="Arial Narrow"/>
                <a:cs typeface="Arial Narrow"/>
                <a:sym typeface="Arial Narrow"/>
              </a:rPr>
              <a:t>18ECE340T- MACHINE PERCEPTION WITH COGNITION</a:t>
            </a:r>
            <a:endParaRPr>
              <a:solidFill>
                <a:srgbClr val="2F5496"/>
              </a:solidFill>
              <a:latin typeface="Arial Narrow"/>
              <a:ea typeface="Arial Narrow"/>
              <a:cs typeface="Arial Narrow"/>
              <a:sym typeface="Arial Narrow"/>
            </a:endParaRPr>
          </a:p>
        </p:txBody>
      </p:sp>
      <p:sp>
        <p:nvSpPr>
          <p:cNvPr id="89" name="Google Shape;89;p1"/>
          <p:cNvSpPr txBox="1">
            <a:spLocks noGrp="1"/>
          </p:cNvSpPr>
          <p:nvPr>
            <p:ph type="body" idx="1"/>
          </p:nvPr>
        </p:nvSpPr>
        <p:spPr>
          <a:xfrm>
            <a:off x="401815" y="2072085"/>
            <a:ext cx="8340371" cy="2266475"/>
          </a:xfrm>
          <a:prstGeom prst="rect">
            <a:avLst/>
          </a:prstGeom>
          <a:noFill/>
          <a:ln>
            <a:noFill/>
          </a:ln>
        </p:spPr>
        <p:txBody>
          <a:bodyPr spcFirstLastPara="1" wrap="square" lIns="91416" tIns="45695" rIns="91416" bIns="45695" anchor="t" anchorCtr="0">
            <a:normAutofit fontScale="85000" lnSpcReduction="20000"/>
          </a:bodyPr>
          <a:lstStyle/>
          <a:p>
            <a:pPr algn="ctr" rtl="0">
              <a:lnSpc>
                <a:spcPct val="90000"/>
              </a:lnSpc>
              <a:buClr>
                <a:srgbClr val="0070C0"/>
              </a:buClr>
              <a:buSzPts val="4000"/>
            </a:pPr>
            <a:r>
              <a:rPr lang="en-US" sz="4000" b="1" dirty="0">
                <a:solidFill>
                  <a:srgbClr val="0070C0"/>
                </a:solidFill>
                <a:latin typeface="Arial Narrow"/>
                <a:ea typeface="Arial Narrow"/>
                <a:cs typeface="Arial Narrow"/>
                <a:sym typeface="Arial Narrow"/>
              </a:rPr>
              <a:t>UNIT-4</a:t>
            </a:r>
          </a:p>
          <a:p>
            <a:pPr algn="ctr" rtl="0">
              <a:lnSpc>
                <a:spcPct val="90000"/>
              </a:lnSpc>
              <a:buClr>
                <a:srgbClr val="0070C0"/>
              </a:buClr>
              <a:buSzPts val="4000"/>
            </a:pPr>
            <a:r>
              <a:rPr lang="en-US" sz="4000" b="1" dirty="0">
                <a:solidFill>
                  <a:srgbClr val="0070C0"/>
                </a:solidFill>
                <a:latin typeface="Arial Narrow"/>
                <a:ea typeface="Arial Narrow"/>
                <a:cs typeface="Arial Narrow"/>
                <a:sym typeface="Arial Narrow"/>
              </a:rPr>
              <a:t>Session-1 </a:t>
            </a:r>
          </a:p>
          <a:p>
            <a:pPr algn="ctr">
              <a:lnSpc>
                <a:spcPct val="90000"/>
              </a:lnSpc>
              <a:buClr>
                <a:srgbClr val="0070C0"/>
              </a:buClr>
              <a:buSzPts val="4000"/>
            </a:pPr>
            <a:r>
              <a:rPr lang="en-US" sz="4000" b="1" i="1" dirty="0">
                <a:solidFill>
                  <a:schemeClr val="accent6">
                    <a:lumMod val="75000"/>
                  </a:schemeClr>
                </a:solidFill>
                <a:ea typeface="Arial Narrow"/>
                <a:cs typeface="Arial Narrow"/>
                <a:sym typeface="Arial Narrow"/>
              </a:rPr>
              <a:t>Topics Covered: </a:t>
            </a:r>
            <a:r>
              <a:rPr lang="en-US" sz="4000" dirty="0">
                <a:solidFill>
                  <a:schemeClr val="accent6">
                    <a:lumMod val="75000"/>
                  </a:schemeClr>
                </a:solidFill>
              </a:rPr>
              <a:t>RECOGNITION BY</a:t>
            </a:r>
            <a:br>
              <a:rPr lang="en-US" sz="4000" dirty="0">
                <a:solidFill>
                  <a:schemeClr val="accent6">
                    <a:lumMod val="75000"/>
                  </a:schemeClr>
                </a:solidFill>
              </a:rPr>
            </a:br>
            <a:r>
              <a:rPr lang="en-US" sz="4000" dirty="0">
                <a:solidFill>
                  <a:schemeClr val="accent6">
                    <a:lumMod val="75000"/>
                  </a:schemeClr>
                </a:solidFill>
              </a:rPr>
              <a:t>RELATIONS BETWEEN</a:t>
            </a:r>
            <a:br>
              <a:rPr lang="en-US" sz="4000" dirty="0">
                <a:solidFill>
                  <a:schemeClr val="accent6">
                    <a:lumMod val="75000"/>
                  </a:schemeClr>
                </a:solidFill>
              </a:rPr>
            </a:br>
            <a:r>
              <a:rPr lang="en-US" sz="4000" dirty="0">
                <a:solidFill>
                  <a:schemeClr val="accent6">
                    <a:lumMod val="75000"/>
                  </a:schemeClr>
                </a:solidFill>
              </a:rPr>
              <a:t>TEMPLATES</a:t>
            </a:r>
            <a:endParaRPr dirty="0">
              <a:solidFill>
                <a:schemeClr val="accent6">
                  <a:lumMod val="75000"/>
                </a:schemeClr>
              </a:solidFill>
            </a:endParaRPr>
          </a:p>
        </p:txBody>
      </p:sp>
      <p:pic>
        <p:nvPicPr>
          <p:cNvPr id="92" name="Google Shape;92;p1" descr="C:\Users\admin\Desktop\download.png"/>
          <p:cNvPicPr preferRelativeResize="0"/>
          <p:nvPr/>
        </p:nvPicPr>
        <p:blipFill rotWithShape="1">
          <a:blip r:embed="rId3">
            <a:alphaModFix/>
          </a:blip>
          <a:srcRect l="3443" t="18274" b="16145"/>
          <a:stretch/>
        </p:blipFill>
        <p:spPr>
          <a:xfrm>
            <a:off x="7850875" y="113765"/>
            <a:ext cx="1064525" cy="710637"/>
          </a:xfrm>
          <a:prstGeom prst="rect">
            <a:avLst/>
          </a:prstGeom>
          <a:noFill/>
          <a:ln>
            <a:noFill/>
          </a:ln>
        </p:spPr>
      </p:pic>
    </p:spTree>
    <p:extLst>
      <p:ext uri="{BB962C8B-B14F-4D97-AF65-F5344CB8AC3E}">
        <p14:creationId xmlns:p14="http://schemas.microsoft.com/office/powerpoint/2010/main" val="2926509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10600" cy="944562"/>
          </a:xfrm>
        </p:spPr>
        <p:txBody>
          <a:bodyPr>
            <a:noAutofit/>
          </a:bodyPr>
          <a:lstStyle/>
          <a:p>
            <a:pPr algn="l"/>
            <a:r>
              <a:rPr lang="en-US" sz="2800" dirty="0"/>
              <a:t>RECOGNITION BY RELATIONS BETWEEN TEMPLATES</a:t>
            </a:r>
          </a:p>
        </p:txBody>
      </p:sp>
      <p:sp>
        <p:nvSpPr>
          <p:cNvPr id="3" name="Content Placeholder 2"/>
          <p:cNvSpPr>
            <a:spLocks noGrp="1"/>
          </p:cNvSpPr>
          <p:nvPr>
            <p:ph idx="1"/>
          </p:nvPr>
        </p:nvSpPr>
        <p:spPr>
          <a:xfrm>
            <a:off x="457200" y="1295400"/>
            <a:ext cx="8229600" cy="5257800"/>
          </a:xfrm>
        </p:spPr>
        <p:txBody>
          <a:bodyPr>
            <a:normAutofit fontScale="70000" lnSpcReduction="20000"/>
          </a:bodyPr>
          <a:lstStyle/>
          <a:p>
            <a:r>
              <a:rPr lang="en-US" dirty="0"/>
              <a:t>An object may have internal degrees of freedom, Its appearance is highly variable </a:t>
            </a:r>
          </a:p>
          <a:p>
            <a:r>
              <a:rPr lang="en-US" dirty="0">
                <a:solidFill>
                  <a:srgbClr val="FF0000"/>
                </a:solidFill>
              </a:rPr>
              <a:t>Example</a:t>
            </a:r>
          </a:p>
          <a:p>
            <a:pPr lvl="1"/>
            <a:r>
              <a:rPr lang="en-US" dirty="0"/>
              <a:t>people can move arms and legs</a:t>
            </a:r>
          </a:p>
          <a:p>
            <a:pPr lvl="1"/>
            <a:r>
              <a:rPr lang="en-US" dirty="0"/>
              <a:t>fish deform to swim; </a:t>
            </a:r>
          </a:p>
          <a:p>
            <a:pPr lvl="1"/>
            <a:r>
              <a:rPr lang="en-US" dirty="0"/>
              <a:t>snakes wriggle</a:t>
            </a:r>
          </a:p>
          <a:p>
            <a:r>
              <a:rPr lang="en-US" dirty="0"/>
              <a:t>This phenomenon can make template matching extremely difficult</a:t>
            </a:r>
          </a:p>
          <a:p>
            <a:r>
              <a:rPr lang="en-US" dirty="0"/>
              <a:t> Because one may require either a classifier with a very flexible boundary (and a lot of examples) or many different templates. </a:t>
            </a:r>
          </a:p>
          <a:p>
            <a:r>
              <a:rPr lang="en-US" dirty="0"/>
              <a:t>In one objects have small components</a:t>
            </a:r>
          </a:p>
          <a:p>
            <a:r>
              <a:rPr lang="en-US" dirty="0">
                <a:solidFill>
                  <a:srgbClr val="FF0000"/>
                </a:solidFill>
              </a:rPr>
              <a:t> Example</a:t>
            </a:r>
            <a:r>
              <a:rPr lang="en-US" dirty="0"/>
              <a:t>, </a:t>
            </a:r>
          </a:p>
          <a:p>
            <a:r>
              <a:rPr lang="en-US" dirty="0"/>
              <a:t>Instead of finding a face by looking for a single complete face template, we could find one by looking for eyes, nose and a mouth that all lie in an appropriate configuration.</a:t>
            </a:r>
          </a:p>
        </p:txBody>
      </p:sp>
    </p:spTree>
    <p:extLst>
      <p:ext uri="{BB962C8B-B14F-4D97-AF65-F5344CB8AC3E}">
        <p14:creationId xmlns:p14="http://schemas.microsoft.com/office/powerpoint/2010/main" val="922532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563562"/>
          </a:xfrm>
        </p:spPr>
        <p:txBody>
          <a:bodyPr>
            <a:normAutofit/>
          </a:bodyPr>
          <a:lstStyle/>
          <a:p>
            <a:r>
              <a:rPr lang="en-US" sz="2500" dirty="0"/>
              <a:t>RECOGNITION BY RELATIONS BETWEEN TEMPLATES</a:t>
            </a:r>
          </a:p>
        </p:txBody>
      </p:sp>
      <p:sp>
        <p:nvSpPr>
          <p:cNvPr id="3" name="Content Placeholder 2"/>
          <p:cNvSpPr>
            <a:spLocks noGrp="1"/>
          </p:cNvSpPr>
          <p:nvPr>
            <p:ph idx="1"/>
          </p:nvPr>
        </p:nvSpPr>
        <p:spPr>
          <a:xfrm>
            <a:off x="457200" y="1143000"/>
            <a:ext cx="8229600" cy="4983163"/>
          </a:xfrm>
        </p:spPr>
        <p:txBody>
          <a:bodyPr>
            <a:normAutofit fontScale="62500" lnSpcReduction="20000"/>
          </a:bodyPr>
          <a:lstStyle/>
          <a:p>
            <a:pPr algn="just"/>
            <a:r>
              <a:rPr lang="en-US" dirty="0"/>
              <a:t>This approach has several possible advantages. </a:t>
            </a:r>
          </a:p>
          <a:p>
            <a:pPr algn="just"/>
            <a:r>
              <a:rPr lang="en-US" dirty="0"/>
              <a:t>(i)  It may be easier to learn an eye template than it is to learn a face template, because the structure could be simpler. </a:t>
            </a:r>
          </a:p>
          <a:p>
            <a:pPr algn="just"/>
            <a:r>
              <a:rPr lang="en-US" dirty="0"/>
              <a:t>(ii)it may be possible to obtain and use relatively simple probability models. </a:t>
            </a:r>
          </a:p>
          <a:p>
            <a:pPr algn="just"/>
            <a:r>
              <a:rPr lang="en-US" dirty="0"/>
              <a:t>(iii)Able to match a very large number of objects with a relatively small number of templates. </a:t>
            </a:r>
          </a:p>
          <a:p>
            <a:pPr algn="just"/>
            <a:r>
              <a:rPr lang="en-US" dirty="0"/>
              <a:t>Animal faces are a good example of this phenomenon — </a:t>
            </a:r>
          </a:p>
          <a:p>
            <a:pPr lvl="1" algn="just"/>
            <a:r>
              <a:rPr lang="en-US" dirty="0"/>
              <a:t>all animals with </a:t>
            </a:r>
            <a:r>
              <a:rPr lang="en-US" dirty="0" err="1"/>
              <a:t>recognisable</a:t>
            </a:r>
            <a:r>
              <a:rPr lang="en-US" dirty="0"/>
              <a:t> faces have eyes, nose and a </a:t>
            </a:r>
            <a:r>
              <a:rPr lang="en-US" dirty="0" err="1"/>
              <a:t>a</a:t>
            </a:r>
            <a:r>
              <a:rPr lang="en-US" dirty="0"/>
              <a:t> mouth, but with slightly different spatial layouts.</a:t>
            </a:r>
          </a:p>
          <a:p>
            <a:pPr algn="just"/>
            <a:r>
              <a:rPr lang="en-US" dirty="0"/>
              <a:t>(iv) simple individual templates can be used to construct complex objects. </a:t>
            </a:r>
          </a:p>
          <a:p>
            <a:pPr algn="just"/>
            <a:r>
              <a:rPr lang="en-US" dirty="0"/>
              <a:t>people can move their arms and legs around, and it appears to be much more difficult to learn a single, </a:t>
            </a:r>
          </a:p>
          <a:p>
            <a:pPr algn="just"/>
            <a:r>
              <a:rPr lang="en-US" dirty="0"/>
              <a:t>explicit template for finding whole people than to obtain individual templates for bits of people and a probability model that describes their degrees of freedom.</a:t>
            </a:r>
          </a:p>
        </p:txBody>
      </p:sp>
    </p:spTree>
    <p:extLst>
      <p:ext uri="{BB962C8B-B14F-4D97-AF65-F5344CB8AC3E}">
        <p14:creationId xmlns:p14="http://schemas.microsoft.com/office/powerpoint/2010/main" val="4194116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Finding Objects by Voting on Relations between Templates</a:t>
            </a:r>
          </a:p>
        </p:txBody>
      </p:sp>
      <p:sp>
        <p:nvSpPr>
          <p:cNvPr id="3" name="Content Placeholder 2"/>
          <p:cNvSpPr>
            <a:spLocks noGrp="1"/>
          </p:cNvSpPr>
          <p:nvPr>
            <p:ph idx="1"/>
          </p:nvPr>
        </p:nvSpPr>
        <p:spPr>
          <a:xfrm>
            <a:off x="76200" y="1600200"/>
            <a:ext cx="9067800" cy="5029200"/>
          </a:xfrm>
        </p:spPr>
        <p:txBody>
          <a:bodyPr>
            <a:noAutofit/>
          </a:bodyPr>
          <a:lstStyle/>
          <a:p>
            <a:pPr algn="just"/>
            <a:r>
              <a:rPr lang="en-US" sz="2500" dirty="0"/>
              <a:t>Very simple object models can result in quite effective recognition. </a:t>
            </a:r>
          </a:p>
          <a:p>
            <a:pPr algn="just"/>
            <a:r>
              <a:rPr lang="en-US" sz="2500" dirty="0"/>
              <a:t>The simplest model is object as a collection of </a:t>
            </a:r>
            <a:r>
              <a:rPr lang="en-US" sz="2500" dirty="0">
                <a:solidFill>
                  <a:srgbClr val="FF0000"/>
                </a:solidFill>
              </a:rPr>
              <a:t>image patches</a:t>
            </a:r>
            <a:r>
              <a:rPr lang="en-US" sz="2500" dirty="0"/>
              <a:t> . </a:t>
            </a:r>
          </a:p>
          <a:p>
            <a:pPr algn="just"/>
            <a:r>
              <a:rPr lang="en-US" sz="2500" dirty="0"/>
              <a:t>small image </a:t>
            </a:r>
            <a:r>
              <a:rPr lang="en-US" sz="2500" dirty="0" err="1"/>
              <a:t>neighbourhoods</a:t>
            </a:r>
            <a:r>
              <a:rPr lang="en-US" sz="2500" dirty="0"/>
              <a:t> of characteristic appearance — of several different types, forming an </a:t>
            </a:r>
            <a:r>
              <a:rPr lang="en-US" sz="2500" dirty="0">
                <a:solidFill>
                  <a:srgbClr val="FF0000"/>
                </a:solidFill>
              </a:rPr>
              <a:t>image pattern.</a:t>
            </a:r>
          </a:p>
          <a:p>
            <a:pPr algn="just"/>
            <a:r>
              <a:rPr lang="en-US" sz="2500" dirty="0"/>
              <a:t> To tell, what pattern is present in an image, find each patch that is present, and allow it to vote for every pattern in which it appears. </a:t>
            </a:r>
          </a:p>
          <a:p>
            <a:pPr algn="just"/>
            <a:r>
              <a:rPr lang="en-US" sz="2500" dirty="0"/>
              <a:t>The pattern in the image is the one with the most votes. While this strategy is simple, it is quite effective. </a:t>
            </a:r>
          </a:p>
          <a:p>
            <a:pPr algn="just"/>
            <a:r>
              <a:rPr lang="en-US" sz="2500" dirty="0"/>
              <a:t>Sketch methods for finding patches, and then describe a series of increasingly sophisticated versions of the strategy.</a:t>
            </a:r>
          </a:p>
        </p:txBody>
      </p:sp>
    </p:spTree>
    <p:extLst>
      <p:ext uri="{BB962C8B-B14F-4D97-AF65-F5344CB8AC3E}">
        <p14:creationId xmlns:p14="http://schemas.microsoft.com/office/powerpoint/2010/main" val="198657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Describing Image </a:t>
            </a:r>
            <a:r>
              <a:rPr lang="en-US" dirty="0" err="1"/>
              <a:t>Patche</a:t>
            </a:r>
            <a:endParaRPr lang="en-US" dirty="0"/>
          </a:p>
        </p:txBody>
      </p:sp>
      <p:sp>
        <p:nvSpPr>
          <p:cNvPr id="3" name="Content Placeholder 2"/>
          <p:cNvSpPr>
            <a:spLocks noGrp="1"/>
          </p:cNvSpPr>
          <p:nvPr>
            <p:ph idx="1"/>
          </p:nvPr>
        </p:nvSpPr>
        <p:spPr/>
        <p:txBody>
          <a:bodyPr>
            <a:normAutofit fontScale="70000" lnSpcReduction="20000"/>
          </a:bodyPr>
          <a:lstStyle/>
          <a:p>
            <a:r>
              <a:rPr lang="en-US" dirty="0"/>
              <a:t>Small image patches can have a quite characteristic appearance, usually when they have many non-zero derivatives (e.g. at corners). </a:t>
            </a:r>
          </a:p>
          <a:p>
            <a:r>
              <a:rPr lang="en-US" dirty="0"/>
              <a:t>[</a:t>
            </a:r>
            <a:r>
              <a:rPr lang="en-US" dirty="0" err="1"/>
              <a:t>Schmid</a:t>
            </a:r>
            <a:r>
              <a:rPr lang="en-US" dirty="0"/>
              <a:t> and Mohr, 1996] identified- image corners often called </a:t>
            </a:r>
            <a:r>
              <a:rPr lang="en-US" dirty="0">
                <a:solidFill>
                  <a:srgbClr val="FF0000"/>
                </a:solidFill>
              </a:rPr>
              <a:t>interest points.</a:t>
            </a:r>
          </a:p>
          <a:p>
            <a:r>
              <a:rPr lang="en-US" dirty="0"/>
              <a:t>They then estimate a set of derivatives of the image </a:t>
            </a:r>
            <a:r>
              <a:rPr lang="en-US" dirty="0" err="1"/>
              <a:t>greylevel</a:t>
            </a:r>
            <a:r>
              <a:rPr lang="en-US" dirty="0"/>
              <a:t> at those corners, and evaluate a set of functions of the image derivatives that are invariant to rotation, translation, some scaling, and illumination changes. </a:t>
            </a:r>
          </a:p>
          <a:p>
            <a:r>
              <a:rPr lang="en-US" dirty="0"/>
              <a:t>These features are called </a:t>
            </a:r>
            <a:r>
              <a:rPr lang="en-US" dirty="0">
                <a:solidFill>
                  <a:srgbClr val="FF0000"/>
                </a:solidFill>
              </a:rPr>
              <a:t>invariant local jets. </a:t>
            </a:r>
          </a:p>
          <a:p>
            <a:r>
              <a:rPr lang="en-US" dirty="0"/>
              <a:t>Describing these features in detail would take us out of our way. The value of this approach is that, because the combinations are invariant, we expect that they will take the same value on different views of an object.</a:t>
            </a:r>
          </a:p>
        </p:txBody>
      </p:sp>
    </p:spTree>
    <p:extLst>
      <p:ext uri="{BB962C8B-B14F-4D97-AF65-F5344CB8AC3E}">
        <p14:creationId xmlns:p14="http://schemas.microsoft.com/office/powerpoint/2010/main" val="3727175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Describing Image Patches</a:t>
            </a:r>
          </a:p>
        </p:txBody>
      </p:sp>
      <p:sp>
        <p:nvSpPr>
          <p:cNvPr id="3" name="Content Placeholder 2"/>
          <p:cNvSpPr>
            <a:spLocks noGrp="1"/>
          </p:cNvSpPr>
          <p:nvPr>
            <p:ph idx="1"/>
          </p:nvPr>
        </p:nvSpPr>
        <p:spPr/>
        <p:txBody>
          <a:bodyPr>
            <a:normAutofit fontScale="85000" lnSpcReduction="20000"/>
          </a:bodyPr>
          <a:lstStyle/>
          <a:p>
            <a:pPr algn="just"/>
            <a:r>
              <a:rPr lang="en-US" dirty="0"/>
              <a:t> Assume that the image patches fall into a number of classes. </a:t>
            </a:r>
          </a:p>
          <a:p>
            <a:pPr algn="just"/>
            <a:r>
              <a:rPr lang="en-US" dirty="0"/>
              <a:t>obtain representatives for each class by having multiple pictures of each object —</a:t>
            </a:r>
          </a:p>
          <a:p>
            <a:pPr algn="just"/>
            <a:r>
              <a:rPr lang="en-US" dirty="0"/>
              <a:t>corresponding patches will be of the same class, but probably have somewhat different invariant local jets, as a result of image noise. </a:t>
            </a:r>
          </a:p>
          <a:p>
            <a:pPr algn="just"/>
            <a:r>
              <a:rPr lang="en-US" dirty="0"/>
              <a:t>Determine an appropriate set of classes either by classifying the patches by hand, or by clustering example patches (a somewhat better method!). </a:t>
            </a:r>
          </a:p>
          <a:p>
            <a:pPr algn="just"/>
            <a:r>
              <a:rPr lang="en-US" dirty="0"/>
              <a:t>Able to tell when two sets of invariant local jets represent the same class of image patch.</a:t>
            </a:r>
          </a:p>
        </p:txBody>
      </p:sp>
    </p:spTree>
    <p:extLst>
      <p:ext uri="{BB962C8B-B14F-4D97-AF65-F5344CB8AC3E}">
        <p14:creationId xmlns:p14="http://schemas.microsoft.com/office/powerpoint/2010/main" val="1123860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Describing Image Patches</a:t>
            </a:r>
          </a:p>
        </p:txBody>
      </p:sp>
      <p:sp>
        <p:nvSpPr>
          <p:cNvPr id="3" name="Content Placeholder 2"/>
          <p:cNvSpPr>
            <a:spLocks noGrp="1"/>
          </p:cNvSpPr>
          <p:nvPr>
            <p:ph idx="1"/>
          </p:nvPr>
        </p:nvSpPr>
        <p:spPr/>
        <p:txBody>
          <a:bodyPr>
            <a:normAutofit fontScale="77500" lnSpcReduction="20000"/>
          </a:bodyPr>
          <a:lstStyle/>
          <a:p>
            <a:r>
              <a:rPr lang="en-US" dirty="0"/>
              <a:t>Distance between the feature vectors of a patch to be tested If it is below some threshold, the patch being tested is the class .</a:t>
            </a:r>
          </a:p>
          <a:p>
            <a:r>
              <a:rPr lang="en-US" dirty="0"/>
              <a:t>This is a classifier — it is allocating patches to classes represented by the examples, or deciding not to classify them — and that the patches are templates.</a:t>
            </a:r>
          </a:p>
          <a:p>
            <a:r>
              <a:rPr lang="en-US" dirty="0"/>
              <a:t>training set that contained rotated and scaled versions of each example patch, under varying illuminant conditions, so the classifier could learn that rotation, scaling and illuminant changes don’t affect the identity of the patch. </a:t>
            </a:r>
          </a:p>
          <a:p>
            <a:r>
              <a:rPr lang="en-US" dirty="0"/>
              <a:t>The advantage of using invariant features is that the classifier doesn’t need to learn this invariance from the training set.</a:t>
            </a:r>
          </a:p>
        </p:txBody>
      </p:sp>
    </p:spTree>
    <p:extLst>
      <p:ext uri="{BB962C8B-B14F-4D97-AF65-F5344CB8AC3E}">
        <p14:creationId xmlns:p14="http://schemas.microsoft.com/office/powerpoint/2010/main" val="22222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Voting and a Simple Generative Model</a:t>
            </a:r>
          </a:p>
        </p:txBody>
      </p:sp>
      <p:sp>
        <p:nvSpPr>
          <p:cNvPr id="3" name="Content Placeholder 2"/>
          <p:cNvSpPr>
            <a:spLocks noGrp="1"/>
          </p:cNvSpPr>
          <p:nvPr>
            <p:ph idx="1"/>
          </p:nvPr>
        </p:nvSpPr>
        <p:spPr>
          <a:xfrm>
            <a:off x="76200" y="1143000"/>
            <a:ext cx="8915400" cy="5486400"/>
          </a:xfrm>
        </p:spPr>
        <p:txBody>
          <a:bodyPr>
            <a:normAutofit fontScale="77500" lnSpcReduction="20000"/>
          </a:bodyPr>
          <a:lstStyle/>
          <a:p>
            <a:pPr algn="just"/>
            <a:r>
              <a:rPr lang="en-US" dirty="0"/>
              <a:t>For a given image, find the interest points and classify the image patch at each image point.</a:t>
            </a:r>
          </a:p>
          <a:p>
            <a:pPr algn="just"/>
            <a:r>
              <a:rPr lang="en-US" dirty="0"/>
              <a:t>constructing a correspondence between image patches and patterns. </a:t>
            </a:r>
          </a:p>
          <a:p>
            <a:pPr algn="just"/>
            <a:r>
              <a:rPr lang="en-US" dirty="0"/>
              <a:t>Assume that there are Ni patches in the image. </a:t>
            </a:r>
          </a:p>
          <a:p>
            <a:pPr algn="just"/>
            <a:r>
              <a:rPr lang="en-US" dirty="0"/>
              <a:t>Furthermore, we assume that there is either a single pattern from our collection in the image, or there is no pattern there. </a:t>
            </a:r>
          </a:p>
          <a:p>
            <a:pPr algn="just"/>
            <a:r>
              <a:rPr lang="en-US" dirty="0"/>
              <a:t>An individual patch could have come either from whatever pattern is present, or from noise. </a:t>
            </a:r>
          </a:p>
          <a:p>
            <a:pPr algn="just"/>
            <a:r>
              <a:rPr lang="en-US" dirty="0"/>
              <a:t>Patterns typically do not contain every class of patch. </a:t>
            </a:r>
          </a:p>
          <a:p>
            <a:pPr algn="just"/>
            <a:r>
              <a:rPr lang="en-US" dirty="0"/>
              <a:t>This means that asserting that a particular pattern is present is the same as asserting that some of the image patches came from noise.</a:t>
            </a:r>
          </a:p>
          <a:p>
            <a:pPr algn="just"/>
            <a:r>
              <a:rPr lang="en-US" dirty="0"/>
              <a:t>only one pattern can be present, and these images patches belong to classes that are not in the current pattern.</a:t>
            </a:r>
          </a:p>
        </p:txBody>
      </p:sp>
    </p:spTree>
    <p:extLst>
      <p:ext uri="{BB962C8B-B14F-4D97-AF65-F5344CB8AC3E}">
        <p14:creationId xmlns:p14="http://schemas.microsoft.com/office/powerpoint/2010/main" val="4183970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Voting and a Simple Generative Model</a:t>
            </a:r>
          </a:p>
        </p:txBody>
      </p:sp>
      <p:sp>
        <p:nvSpPr>
          <p:cNvPr id="3" name="Content Placeholder 2"/>
          <p:cNvSpPr>
            <a:spLocks noGrp="1"/>
          </p:cNvSpPr>
          <p:nvPr>
            <p:ph idx="1"/>
          </p:nvPr>
        </p:nvSpPr>
        <p:spPr/>
        <p:txBody>
          <a:bodyPr>
            <a:normAutofit fontScale="70000" lnSpcReduction="20000"/>
          </a:bodyPr>
          <a:lstStyle/>
          <a:p>
            <a:pPr algn="just"/>
            <a:r>
              <a:rPr lang="en-US" dirty="0"/>
              <a:t>When a pattern is present, it produces patches of some classes, but not others.</a:t>
            </a:r>
          </a:p>
          <a:p>
            <a:pPr algn="just"/>
            <a:r>
              <a:rPr lang="en-US" dirty="0"/>
              <a:t> By elaborating Voting and a Simple Generative Model </a:t>
            </a:r>
            <a:r>
              <a:rPr lang="en-US" dirty="0" err="1"/>
              <a:t>model</a:t>
            </a:r>
            <a:r>
              <a:rPr lang="en-US" dirty="0"/>
              <a:t>, obtain a series of algorithms for matching patterns to images.</a:t>
            </a:r>
          </a:p>
          <a:p>
            <a:pPr algn="just"/>
            <a:r>
              <a:rPr lang="en-US" dirty="0"/>
              <a:t> The simplest version of this model is obtained by assuming that a pattern produces all patches of the classes.</a:t>
            </a:r>
          </a:p>
          <a:p>
            <a:pPr algn="just"/>
            <a:r>
              <a:rPr lang="en-US" dirty="0"/>
              <a:t>It can produce, and then require that as few patches as possible come from noise.  This assumption boils down to voting. </a:t>
            </a:r>
          </a:p>
          <a:p>
            <a:pPr algn="just"/>
            <a:r>
              <a:rPr lang="en-US" dirty="0"/>
              <a:t>Each image patch, and record a vote for every pattern that is capable of producing that class of patch. </a:t>
            </a:r>
          </a:p>
          <a:p>
            <a:pPr algn="just"/>
            <a:r>
              <a:rPr lang="en-US" dirty="0"/>
              <a:t>The pattern with the most votes, wins.  It  say that this pattern is present. </a:t>
            </a:r>
          </a:p>
        </p:txBody>
      </p:sp>
    </p:spTree>
    <p:extLst>
      <p:ext uri="{BB962C8B-B14F-4D97-AF65-F5344CB8AC3E}">
        <p14:creationId xmlns:p14="http://schemas.microsoft.com/office/powerpoint/2010/main" val="1331277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Voting and a Simple Generative Model</a:t>
            </a:r>
          </a:p>
        </p:txBody>
      </p:sp>
      <p:sp>
        <p:nvSpPr>
          <p:cNvPr id="3" name="Content Placeholder 2"/>
          <p:cNvSpPr>
            <a:spLocks noGrp="1"/>
          </p:cNvSpPr>
          <p:nvPr>
            <p:ph sz="half" idx="1"/>
          </p:nvPr>
        </p:nvSpPr>
        <p:spPr>
          <a:xfrm>
            <a:off x="457200" y="914400"/>
            <a:ext cx="4953000" cy="5211763"/>
          </a:xfrm>
        </p:spPr>
        <p:txBody>
          <a:bodyPr>
            <a:normAutofit fontScale="70000" lnSpcReduction="20000"/>
          </a:bodyPr>
          <a:lstStyle/>
          <a:p>
            <a:pPr algn="just"/>
            <a:r>
              <a:rPr lang="en-US" dirty="0"/>
              <a:t>When a pattern is present, it produces patches of some classes, but not others.</a:t>
            </a:r>
          </a:p>
          <a:p>
            <a:pPr algn="just"/>
            <a:r>
              <a:rPr lang="en-US" dirty="0"/>
              <a:t> By elaborating Voting and a Simple Generative Model </a:t>
            </a:r>
            <a:r>
              <a:rPr lang="en-US" dirty="0" err="1"/>
              <a:t>model</a:t>
            </a:r>
            <a:r>
              <a:rPr lang="en-US" dirty="0"/>
              <a:t>, obtain a series of algorithms for matching patterns to images.</a:t>
            </a:r>
          </a:p>
          <a:p>
            <a:pPr algn="just"/>
            <a:r>
              <a:rPr lang="en-US" dirty="0"/>
              <a:t> The simplest version of this model is obtained by assuming that a pattern produces all patches of the classes.</a:t>
            </a:r>
          </a:p>
          <a:p>
            <a:pPr algn="just"/>
            <a:r>
              <a:rPr lang="en-US" dirty="0"/>
              <a:t>It can produce, and then require that as few patches as possible come from noise.  This assumption boils down to voting. </a:t>
            </a:r>
          </a:p>
          <a:p>
            <a:pPr algn="just"/>
            <a:r>
              <a:rPr lang="en-US" dirty="0"/>
              <a:t>Each image patch, and record a vote for every pattern that is capable of producing that class of patch. </a:t>
            </a:r>
          </a:p>
          <a:p>
            <a:pPr algn="just"/>
            <a:r>
              <a:rPr lang="en-US" dirty="0"/>
              <a:t>The pattern with the most votes, wins.  It  say that this pattern is present. </a:t>
            </a:r>
          </a:p>
          <a:p>
            <a:endParaRPr lang="en-US" dirty="0"/>
          </a:p>
        </p:txBody>
      </p:sp>
      <p:pic>
        <p:nvPicPr>
          <p:cNvPr id="2050" name="Picture 2"/>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5602224" y="838200"/>
            <a:ext cx="3048000" cy="230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638800" y="3657600"/>
            <a:ext cx="3505200" cy="2585323"/>
          </a:xfrm>
          <a:prstGeom prst="rect">
            <a:avLst/>
          </a:prstGeom>
          <a:noFill/>
        </p:spPr>
        <p:txBody>
          <a:bodyPr wrap="square" rtlCol="0">
            <a:spAutoFit/>
          </a:bodyPr>
          <a:lstStyle/>
          <a:p>
            <a:pPr algn="just"/>
            <a:r>
              <a:rPr lang="en-US" dirty="0"/>
              <a:t>The graph shows the number of votes for each pattern recorded for a particular image under the simple voting scheme. </a:t>
            </a:r>
          </a:p>
          <a:p>
            <a:pPr algn="just"/>
            <a:r>
              <a:rPr lang="en-US" dirty="0"/>
              <a:t>Notice that, while the correct match (model # 0) receives the maximum number of votes, three other candidates receives more than half as many votes.</a:t>
            </a:r>
          </a:p>
        </p:txBody>
      </p:sp>
    </p:spTree>
    <p:extLst>
      <p:ext uri="{BB962C8B-B14F-4D97-AF65-F5344CB8AC3E}">
        <p14:creationId xmlns:p14="http://schemas.microsoft.com/office/powerpoint/2010/main" val="81213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Probabilistic Models for Voting</a:t>
            </a:r>
          </a:p>
        </p:txBody>
      </p:sp>
      <p:sp>
        <p:nvSpPr>
          <p:cNvPr id="3" name="Content Placeholder 2"/>
          <p:cNvSpPr>
            <a:spLocks noGrp="1"/>
          </p:cNvSpPr>
          <p:nvPr>
            <p:ph idx="1"/>
          </p:nvPr>
        </p:nvSpPr>
        <p:spPr/>
        <p:txBody>
          <a:bodyPr>
            <a:normAutofit fontScale="92500" lnSpcReduction="20000"/>
          </a:bodyPr>
          <a:lstStyle/>
          <a:p>
            <a:pPr algn="just"/>
            <a:r>
              <a:rPr lang="en-US" dirty="0"/>
              <a:t>understand our simple voting process in terms of a probabilistic model. </a:t>
            </a:r>
          </a:p>
          <a:p>
            <a:pPr algn="just"/>
            <a:r>
              <a:rPr lang="en-US" dirty="0"/>
              <a:t>This is worth doing, because it will cast some light on the strengths and weaknesses of the approach. </a:t>
            </a:r>
          </a:p>
          <a:p>
            <a:pPr algn="just"/>
            <a:r>
              <a:rPr lang="en-US" dirty="0"/>
              <a:t>Our generative model can be made probabilistic by assuming that the patches are produced independently and at random, assuming that the object is present.</a:t>
            </a:r>
          </a:p>
          <a:p>
            <a:pPr algn="just"/>
            <a:r>
              <a:rPr lang="en-US" sz="2100" i="1" dirty="0"/>
              <a:t>P{patch of type i appears in </a:t>
            </a:r>
            <a:r>
              <a:rPr lang="en-US" sz="2100" i="1" dirty="0" err="1"/>
              <a:t>image|j’th</a:t>
            </a:r>
            <a:r>
              <a:rPr lang="en-US" sz="2100" i="1" dirty="0"/>
              <a:t> pattern is present} = </a:t>
            </a:r>
            <a:r>
              <a:rPr lang="en-US" sz="2100" i="1" dirty="0" err="1"/>
              <a:t>pij</a:t>
            </a:r>
            <a:r>
              <a:rPr lang="en-US" sz="2100" i="1" dirty="0"/>
              <a:t>  </a:t>
            </a:r>
          </a:p>
          <a:p>
            <a:pPr marL="0" indent="0" algn="just">
              <a:buNone/>
            </a:pPr>
            <a:r>
              <a:rPr lang="en-US" sz="2100" i="1" dirty="0"/>
              <a:t>           and </a:t>
            </a:r>
          </a:p>
          <a:p>
            <a:pPr algn="just"/>
            <a:r>
              <a:rPr lang="en-US" sz="2100" i="1" dirty="0"/>
              <a:t>P{patch of type </a:t>
            </a:r>
            <a:r>
              <a:rPr lang="en-US" sz="2100" i="1" dirty="0" err="1"/>
              <a:t>i|no</a:t>
            </a:r>
            <a:r>
              <a:rPr lang="en-US" sz="2100" i="1" dirty="0"/>
              <a:t> pattern is present} = pix</a:t>
            </a:r>
          </a:p>
          <a:p>
            <a:pPr algn="just"/>
            <a:endParaRPr lang="en-US" sz="2100" i="1" dirty="0"/>
          </a:p>
        </p:txBody>
      </p:sp>
    </p:spTree>
    <p:extLst>
      <p:ext uri="{BB962C8B-B14F-4D97-AF65-F5344CB8AC3E}">
        <p14:creationId xmlns:p14="http://schemas.microsoft.com/office/powerpoint/2010/main" val="2748759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143000"/>
            <a:ext cx="8534400" cy="5410200"/>
          </a:xfrm>
        </p:spPr>
        <p:txBody>
          <a:bodyPr>
            <a:normAutofit fontScale="85000" lnSpcReduction="10000"/>
          </a:bodyPr>
          <a:lstStyle/>
          <a:p>
            <a:pPr algn="just"/>
            <a:r>
              <a:rPr lang="en-US" dirty="0"/>
              <a:t>In the very simplest model, we assume that, for each pattern j, we assume that </a:t>
            </a:r>
            <a:r>
              <a:rPr lang="en-US" dirty="0" err="1"/>
              <a:t>p</a:t>
            </a:r>
            <a:r>
              <a:rPr lang="en-US" sz="1800" dirty="0" err="1">
                <a:solidFill>
                  <a:srgbClr val="FF0000"/>
                </a:solidFill>
              </a:rPr>
              <a:t>ij</a:t>
            </a:r>
            <a:r>
              <a:rPr lang="en-US" dirty="0"/>
              <a:t> = µ  if the pattern can produce this patch and 0 otherwise.</a:t>
            </a:r>
          </a:p>
          <a:p>
            <a:pPr algn="just"/>
            <a:r>
              <a:rPr lang="en-US" dirty="0"/>
              <a:t>Assume that p</a:t>
            </a:r>
            <a:r>
              <a:rPr lang="en-US" sz="2000" dirty="0">
                <a:solidFill>
                  <a:srgbClr val="FF0000"/>
                </a:solidFill>
              </a:rPr>
              <a:t>ix</a:t>
            </a:r>
            <a:r>
              <a:rPr lang="en-US" dirty="0"/>
              <a:t> = λ˂ µ for all </a:t>
            </a:r>
            <a:r>
              <a:rPr lang="en-US" dirty="0" err="1"/>
              <a:t>i.Each</a:t>
            </a:r>
            <a:r>
              <a:rPr lang="en-US" dirty="0"/>
              <a:t> observed patch in the image can come from either a single pattern or from noise. There are a total of </a:t>
            </a:r>
            <a:r>
              <a:rPr lang="en-US" dirty="0" err="1"/>
              <a:t>ni</a:t>
            </a:r>
            <a:r>
              <a:rPr lang="en-US" dirty="0"/>
              <a:t> patches in the image. </a:t>
            </a:r>
          </a:p>
          <a:p>
            <a:pPr algn="just"/>
            <a:r>
              <a:rPr lang="en-US" dirty="0"/>
              <a:t>Under these assumptions, which patches came from a pattern and which from noise to compute a likelihood value.</a:t>
            </a:r>
          </a:p>
          <a:p>
            <a:pPr algn="just"/>
            <a:r>
              <a:rPr lang="en-US" dirty="0"/>
              <a:t> In particular, The likelihood of the image, given a particular pattern, and assuming that </a:t>
            </a:r>
            <a:r>
              <a:rPr lang="en-US" dirty="0" err="1">
                <a:solidFill>
                  <a:srgbClr val="FF0000"/>
                </a:solidFill>
              </a:rPr>
              <a:t>n</a:t>
            </a:r>
            <a:r>
              <a:rPr lang="en-US" sz="2600" dirty="0" err="1">
                <a:solidFill>
                  <a:srgbClr val="FF0000"/>
                </a:solidFill>
              </a:rPr>
              <a:t>p</a:t>
            </a:r>
            <a:r>
              <a:rPr lang="en-US" dirty="0"/>
              <a:t> patches came from that pattern and </a:t>
            </a:r>
            <a:r>
              <a:rPr lang="en-US" dirty="0" err="1">
                <a:solidFill>
                  <a:srgbClr val="FF0000"/>
                </a:solidFill>
              </a:rPr>
              <a:t>n</a:t>
            </a:r>
            <a:r>
              <a:rPr lang="en-US" sz="2300" dirty="0" err="1">
                <a:solidFill>
                  <a:srgbClr val="FF0000"/>
                </a:solidFill>
              </a:rPr>
              <a:t>i</a:t>
            </a:r>
            <a:r>
              <a:rPr lang="en-US" dirty="0">
                <a:solidFill>
                  <a:srgbClr val="FF0000"/>
                </a:solidFill>
              </a:rPr>
              <a:t> − </a:t>
            </a:r>
            <a:r>
              <a:rPr lang="en-US" dirty="0" err="1">
                <a:solidFill>
                  <a:srgbClr val="FF0000"/>
                </a:solidFill>
              </a:rPr>
              <a:t>n</a:t>
            </a:r>
            <a:r>
              <a:rPr lang="en-US" sz="2300" dirty="0" err="1">
                <a:solidFill>
                  <a:srgbClr val="FF0000"/>
                </a:solidFill>
              </a:rPr>
              <a:t>p</a:t>
            </a:r>
            <a:r>
              <a:rPr lang="en-US" dirty="0">
                <a:solidFill>
                  <a:srgbClr val="FF0000"/>
                </a:solidFill>
              </a:rPr>
              <a:t> </a:t>
            </a:r>
            <a:r>
              <a:rPr lang="en-US" dirty="0"/>
              <a:t>patches come from noise, and this value is larger for larger values of </a:t>
            </a:r>
            <a:r>
              <a:rPr lang="en-US" dirty="0" err="1">
                <a:solidFill>
                  <a:srgbClr val="FF0000"/>
                </a:solidFill>
              </a:rPr>
              <a:t>n</a:t>
            </a:r>
            <a:r>
              <a:rPr lang="en-US" sz="1900" dirty="0" err="1">
                <a:solidFill>
                  <a:srgbClr val="FF0000"/>
                </a:solidFill>
              </a:rPr>
              <a:t>p</a:t>
            </a:r>
            <a:r>
              <a:rPr lang="en-US" sz="1900" dirty="0">
                <a:solidFill>
                  <a:srgbClr val="FF0000"/>
                </a:solidFill>
              </a:rPr>
              <a: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0616" y="6276975"/>
            <a:ext cx="50768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2852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Voting on Relations</a:t>
            </a:r>
          </a:p>
        </p:txBody>
      </p:sp>
      <p:sp>
        <p:nvSpPr>
          <p:cNvPr id="3" name="Content Placeholder 2"/>
          <p:cNvSpPr>
            <a:spLocks noGrp="1"/>
          </p:cNvSpPr>
          <p:nvPr>
            <p:ph idx="1"/>
          </p:nvPr>
        </p:nvSpPr>
        <p:spPr/>
        <p:txBody>
          <a:bodyPr>
            <a:normAutofit fontScale="85000" lnSpcReduction="10000"/>
          </a:bodyPr>
          <a:lstStyle/>
          <a:p>
            <a:r>
              <a:rPr lang="en-US" dirty="0"/>
              <a:t>Geometric relations is to improve on the simple voting strategy fairly easily. </a:t>
            </a:r>
          </a:p>
          <a:p>
            <a:r>
              <a:rPr lang="en-US" dirty="0"/>
              <a:t>A patch should match to an object only if it there are nearby patches that also match to the object, and are in an appropriate configuration. </a:t>
            </a:r>
          </a:p>
          <a:p>
            <a:r>
              <a:rPr lang="en-US" dirty="0"/>
              <a:t>The term “</a:t>
            </a:r>
            <a:r>
              <a:rPr lang="en-US" dirty="0">
                <a:solidFill>
                  <a:srgbClr val="FF0000"/>
                </a:solidFill>
              </a:rPr>
              <a:t>appropriate configuration</a:t>
            </a:r>
            <a:r>
              <a:rPr lang="en-US" dirty="0"/>
              <a:t>” can be a source of difficulties, but for the moment assume that we are matching objects up to plane rotation, translation and scale (this is a reasonable assumption for such things as frontal faces).</a:t>
            </a:r>
          </a:p>
          <a:p>
            <a:r>
              <a:rPr lang="en-US" dirty="0"/>
              <a:t>Assume a patch that matches to some object. </a:t>
            </a:r>
          </a:p>
        </p:txBody>
      </p:sp>
    </p:spTree>
    <p:extLst>
      <p:ext uri="{BB962C8B-B14F-4D97-AF65-F5344CB8AC3E}">
        <p14:creationId xmlns:p14="http://schemas.microsoft.com/office/powerpoint/2010/main" val="2157680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Voting on Relations</a:t>
            </a:r>
          </a:p>
        </p:txBody>
      </p:sp>
      <p:sp>
        <p:nvSpPr>
          <p:cNvPr id="3" name="Content Placeholder 2"/>
          <p:cNvSpPr>
            <a:spLocks noGrp="1"/>
          </p:cNvSpPr>
          <p:nvPr>
            <p:ph sz="half" idx="1"/>
          </p:nvPr>
        </p:nvSpPr>
        <p:spPr/>
        <p:txBody>
          <a:bodyPr>
            <a:normAutofit fontScale="85000" lnSpcReduction="20000"/>
          </a:bodyPr>
          <a:lstStyle/>
          <a:p>
            <a:r>
              <a:rPr lang="en-US" dirty="0"/>
              <a:t>Take the p nearest patches, and check </a:t>
            </a:r>
          </a:p>
          <a:p>
            <a:r>
              <a:rPr lang="en-US" dirty="0"/>
              <a:t>(i) that more than 50% of them match to the same object.</a:t>
            </a:r>
          </a:p>
          <a:p>
            <a:r>
              <a:rPr lang="en-US" dirty="0"/>
              <a:t>(ii) that the angles between the triples of matching patches are the same as the corresponding angles on the object  — these are referred to as </a:t>
            </a:r>
            <a:r>
              <a:rPr lang="en-US" dirty="0">
                <a:solidFill>
                  <a:srgbClr val="FF0000"/>
                </a:solidFill>
              </a:rPr>
              <a:t>semi </a:t>
            </a:r>
            <a:r>
              <a:rPr lang="en-US" dirty="0"/>
              <a:t>If these two tests are passed, we register a vote for that object from the patch.</a:t>
            </a:r>
          </a:p>
        </p:txBody>
      </p:sp>
      <p:pic>
        <p:nvPicPr>
          <p:cNvPr id="1026"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952999" y="2057400"/>
            <a:ext cx="3821629"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334000" y="4495800"/>
            <a:ext cx="2895600" cy="646331"/>
          </a:xfrm>
          <a:prstGeom prst="rect">
            <a:avLst/>
          </a:prstGeom>
          <a:noFill/>
        </p:spPr>
        <p:txBody>
          <a:bodyPr wrap="square" rtlCol="0">
            <a:spAutoFit/>
          </a:bodyPr>
          <a:lstStyle/>
          <a:p>
            <a:r>
              <a:rPr lang="en-US" dirty="0">
                <a:solidFill>
                  <a:srgbClr val="FF0000"/>
                </a:solidFill>
              </a:rPr>
              <a:t>semi local constraints </a:t>
            </a:r>
          </a:p>
          <a:p>
            <a:endParaRPr lang="en-US" dirty="0"/>
          </a:p>
        </p:txBody>
      </p:sp>
    </p:spTree>
    <p:extLst>
      <p:ext uri="{BB962C8B-B14F-4D97-AF65-F5344CB8AC3E}">
        <p14:creationId xmlns:p14="http://schemas.microsoft.com/office/powerpoint/2010/main" val="2448645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Voting on Relations</a:t>
            </a:r>
          </a:p>
        </p:txBody>
      </p:sp>
      <p:sp>
        <p:nvSpPr>
          <p:cNvPr id="3" name="Content Placeholder 2"/>
          <p:cNvSpPr>
            <a:spLocks noGrp="1"/>
          </p:cNvSpPr>
          <p:nvPr>
            <p:ph sz="half" idx="1"/>
          </p:nvPr>
        </p:nvSpPr>
        <p:spPr>
          <a:xfrm>
            <a:off x="152400" y="1371600"/>
            <a:ext cx="5029200" cy="5105400"/>
          </a:xfrm>
        </p:spPr>
        <p:txBody>
          <a:bodyPr>
            <a:normAutofit fontScale="85000" lnSpcReduction="20000"/>
          </a:bodyPr>
          <a:lstStyle/>
          <a:p>
            <a:pPr algn="just"/>
            <a:r>
              <a:rPr lang="en-US" dirty="0"/>
              <a:t>In practice, the use of </a:t>
            </a:r>
            <a:r>
              <a:rPr lang="en-US" dirty="0" err="1"/>
              <a:t>semilocal</a:t>
            </a:r>
            <a:r>
              <a:rPr lang="en-US" dirty="0"/>
              <a:t> constraints greatly increases the discriminating power of the original voting scheme. </a:t>
            </a:r>
          </a:p>
          <a:p>
            <a:pPr algn="just"/>
            <a:r>
              <a:rPr lang="en-US" dirty="0"/>
              <a:t>The figure on the left shows the number of votes recorded for each model under the original voting scheme, for a particular image.</a:t>
            </a:r>
          </a:p>
          <a:p>
            <a:pPr algn="just"/>
            <a:r>
              <a:rPr lang="en-US" dirty="0"/>
              <a:t> Although the correct match (model # 0) receives the maximum number of votes, three other candidates receives more than half as many votes. </a:t>
            </a:r>
          </a:p>
          <a:p>
            <a:pPr algn="just"/>
            <a:r>
              <a:rPr lang="en-US" dirty="0"/>
              <a:t>When </a:t>
            </a:r>
            <a:r>
              <a:rPr lang="en-US" dirty="0" err="1"/>
              <a:t>semilocal</a:t>
            </a:r>
            <a:r>
              <a:rPr lang="en-US" dirty="0"/>
              <a:t> constraints are added (right), the correct match stands out much more clearly.</a:t>
            </a:r>
          </a:p>
        </p:txBody>
      </p:sp>
      <p:pic>
        <p:nvPicPr>
          <p:cNvPr id="5122"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105400" y="3124200"/>
            <a:ext cx="4904566" cy="1992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4878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1714</Words>
  <Application>Microsoft Office PowerPoint</Application>
  <PresentationFormat>On-screen Show (4:3)</PresentationFormat>
  <Paragraphs>100</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Arial Narrow</vt:lpstr>
      <vt:lpstr>Calibri</vt:lpstr>
      <vt:lpstr>Office Theme</vt:lpstr>
      <vt:lpstr>18ECE340T- MACHINE PERCEPTION WITH COGNITION</vt:lpstr>
      <vt:lpstr>RECOGNITION BY RELATIONS BETWEEN TEMPLATES</vt:lpstr>
      <vt:lpstr>RECOGNITION BY RELATIONS BETWEEN TEMPLATES</vt:lpstr>
      <vt:lpstr>Finding Objects by Voting on Relations between Templates</vt:lpstr>
      <vt:lpstr>Describing Image Patche</vt:lpstr>
      <vt:lpstr>Describing Image Patches</vt:lpstr>
      <vt:lpstr>Describing Image Patches</vt:lpstr>
      <vt:lpstr>Voting and a Simple Generative Model</vt:lpstr>
      <vt:lpstr>Voting and a Simple Generative Model</vt:lpstr>
      <vt:lpstr>Voting and a Simple Generative Model</vt:lpstr>
      <vt:lpstr>Probabilistic Models for Voting</vt:lpstr>
      <vt:lpstr>PowerPoint Presentation</vt:lpstr>
      <vt:lpstr>Voting on Relations</vt:lpstr>
      <vt:lpstr>Voting on Relations</vt:lpstr>
      <vt:lpstr>Voting on Relations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RECOGNITION BY RELATIONS BETWEEN TEMPLATES</dc:title>
  <dc:creator>Vimala</dc:creator>
  <cp:lastModifiedBy>Susila M</cp:lastModifiedBy>
  <cp:revision>19</cp:revision>
  <dcterms:created xsi:type="dcterms:W3CDTF">2006-08-16T00:00:00Z</dcterms:created>
  <dcterms:modified xsi:type="dcterms:W3CDTF">2022-11-13T16:57:01Z</dcterms:modified>
</cp:coreProperties>
</file>